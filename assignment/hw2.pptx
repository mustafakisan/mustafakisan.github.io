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A7A310-FEEF-4CC1-8028-ABA1A2F7927E}" v="71" dt="2026-06-03T18:55:34.4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varScale="1">
        <p:scale>
          <a:sx n="86" d="100"/>
          <a:sy n="86" d="100"/>
        </p:scale>
        <p:origin x="66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1122363"/>
            <a:ext cx="9144000" cy="2387600"/>
          </a:xfrm>
        </p:spPr>
        <p:txBody>
          <a:bodyPr anchor="b"/>
          <a:lstStyle>
            <a:lvl1pPr algn="ctr">
              <a:defRPr sz="6000"/>
            </a:lvl1pPr>
          </a:lstStyle>
          <a:p>
            <a:r>
              <a:rPr lang="tr-TR"/>
              <a:t>Asıl başlık stili için tıklatın</a:t>
            </a: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3.06.2026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44099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3.06.2026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944319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831850" y="1709738"/>
            <a:ext cx="10515600" cy="2852737"/>
          </a:xfrm>
        </p:spPr>
        <p:txBody>
          <a:bodyPr anchor="b"/>
          <a:lstStyle>
            <a:lvl1pPr>
              <a:defRPr sz="6000"/>
            </a:lvl1pPr>
          </a:lstStyle>
          <a:p>
            <a:r>
              <a:rPr lang="tr-TR"/>
              <a:t>Asıl başlık stili için tıklatın</a:t>
            </a: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E2072480-10DA-4FB4-BEAE-2A1DEA90F248}" type="datetimeFigureOut">
              <a:rPr lang="tr-TR" smtClean="0"/>
              <a:t>3.06.2026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1196833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838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172200" y="1825625"/>
            <a:ext cx="5181600" cy="435133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E2072480-10DA-4FB4-BEAE-2A1DEA90F248}" type="datetimeFigureOut">
              <a:rPr lang="tr-TR" smtClean="0"/>
              <a:t>3.06.2026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3652797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839788" y="365125"/>
            <a:ext cx="10515600" cy="1325563"/>
          </a:xfrm>
        </p:spPr>
        <p:txBody>
          <a:bodyPr/>
          <a:lstStyle/>
          <a:p>
            <a:r>
              <a:rPr lang="tr-TR"/>
              <a:t>Asıl başlık stili için tıklatın</a:t>
            </a: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839788" y="2505075"/>
            <a:ext cx="5157787"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6172200" y="2505075"/>
            <a:ext cx="5183188" cy="3684588"/>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E2072480-10DA-4FB4-BEAE-2A1DEA90F248}" type="datetimeFigureOut">
              <a:rPr lang="tr-TR" smtClean="0"/>
              <a:t>3.06.2026</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674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E2072480-10DA-4FB4-BEAE-2A1DEA90F248}" type="datetimeFigureOut">
              <a:rPr lang="tr-TR" smtClean="0"/>
              <a:t>3.06.2026</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86148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E2072480-10DA-4FB4-BEAE-2A1DEA90F248}" type="datetimeFigureOut">
              <a:rPr lang="tr-TR" smtClean="0"/>
              <a:t>3.06.2026</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419981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3.06.2026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270091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839788" y="457200"/>
            <a:ext cx="3932237" cy="1600200"/>
          </a:xfrm>
        </p:spPr>
        <p:txBody>
          <a:bodyPr anchor="b"/>
          <a:lstStyle>
            <a:lvl1pPr>
              <a:defRPr sz="3200"/>
            </a:lvl1pPr>
          </a:lstStyle>
          <a:p>
            <a:r>
              <a:rPr lang="tr-TR"/>
              <a:t>Asıl başlık stili için tıklatın</a:t>
            </a: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E2072480-10DA-4FB4-BEAE-2A1DEA90F248}" type="datetimeFigureOut">
              <a:rPr lang="tr-TR" smtClean="0"/>
              <a:t>3.06.2026</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1817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3.06.2026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47874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E2072480-10DA-4FB4-BEAE-2A1DEA90F248}" type="datetimeFigureOut">
              <a:rPr lang="tr-TR" smtClean="0"/>
              <a:t>3.06.2026</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320A84BC-3F9E-4B08-9743-FC4E27FA5126}" type="slidenum">
              <a:rPr lang="tr-TR" smtClean="0"/>
              <a:t>‹#›</a:t>
            </a:fld>
            <a:endParaRPr lang="tr-TR"/>
          </a:p>
        </p:txBody>
      </p:sp>
    </p:spTree>
    <p:extLst>
      <p:ext uri="{BB962C8B-B14F-4D97-AF65-F5344CB8AC3E}">
        <p14:creationId xmlns:p14="http://schemas.microsoft.com/office/powerpoint/2010/main" val="804856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072480-10DA-4FB4-BEAE-2A1DEA90F248}" type="datetimeFigureOut">
              <a:rPr lang="tr-TR" smtClean="0"/>
              <a:t>3.06.2026</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0A84BC-3F9E-4B08-9743-FC4E27FA5126}" type="slidenum">
              <a:rPr lang="tr-TR" smtClean="0"/>
              <a:t>‹#›</a:t>
            </a:fld>
            <a:endParaRPr lang="tr-TR"/>
          </a:p>
        </p:txBody>
      </p:sp>
    </p:spTree>
    <p:extLst>
      <p:ext uri="{BB962C8B-B14F-4D97-AF65-F5344CB8AC3E}">
        <p14:creationId xmlns:p14="http://schemas.microsoft.com/office/powerpoint/2010/main" val="3712468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1524000" y="745953"/>
            <a:ext cx="9144000" cy="2387600"/>
          </a:xfrm>
        </p:spPr>
        <p:txBody>
          <a:bodyPr>
            <a:normAutofit/>
          </a:bodyPr>
          <a:lstStyle/>
          <a:p>
            <a:r>
              <a:rPr lang="tr-TR" sz="4000" b="1"/>
              <a:t>COURSE ASSIGNMENT 1: WEBSITE ANALYSIS REPORT</a:t>
            </a:r>
          </a:p>
          <a:p>
            <a:r>
              <a:rPr lang="tr-TR" sz="4000" b="1"/>
              <a:t>Student Name:</a:t>
            </a:r>
            <a:r>
              <a:rPr lang="tr-TR" sz="4000"/>
              <a:t>Mustafa Kısan</a:t>
            </a:r>
          </a:p>
          <a:p>
            <a:r>
              <a:rPr lang="tr-TR" sz="4000" b="1"/>
              <a:t>20232538</a:t>
            </a:r>
            <a:endParaRPr lang="tr-TR" sz="4000"/>
          </a:p>
        </p:txBody>
      </p:sp>
      <p:sp>
        <p:nvSpPr>
          <p:cNvPr id="3" name="Alt Başlık 2"/>
          <p:cNvSpPr>
            <a:spLocks noGrp="1"/>
          </p:cNvSpPr>
          <p:nvPr>
            <p:ph type="subTitle" idx="1"/>
          </p:nvPr>
        </p:nvSpPr>
        <p:spPr/>
        <p:txBody>
          <a:bodyPr vert="horz" lIns="91440" tIns="45720" rIns="91440" bIns="45720" rtlCol="0" anchor="t">
            <a:normAutofit/>
          </a:bodyPr>
          <a:lstStyle/>
          <a:p>
            <a:r>
              <a:rPr lang="tr-TR" b="1" dirty="0">
                <a:ea typeface="+mn-lt"/>
                <a:cs typeface="+mn-lt"/>
              </a:rPr>
              <a:t>Course:</a:t>
            </a:r>
            <a:r>
              <a:rPr lang="tr-TR">
                <a:ea typeface="+mn-lt"/>
                <a:cs typeface="+mn-lt"/>
              </a:rPr>
              <a:t> AII006, Kaan Uyar</a:t>
            </a:r>
            <a:endParaRPr lang="tr-TR"/>
          </a:p>
        </p:txBody>
      </p:sp>
    </p:spTree>
    <p:extLst>
      <p:ext uri="{BB962C8B-B14F-4D97-AF65-F5344CB8AC3E}">
        <p14:creationId xmlns:p14="http://schemas.microsoft.com/office/powerpoint/2010/main" val="167442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FD34EBB-60C3-D8E6-000D-93BD52BDE8D6}"/>
              </a:ext>
            </a:extLst>
          </p:cNvPr>
          <p:cNvSpPr>
            <a:spLocks noGrp="1"/>
          </p:cNvSpPr>
          <p:nvPr>
            <p:ph type="title"/>
          </p:nvPr>
        </p:nvSpPr>
        <p:spPr/>
        <p:txBody>
          <a:bodyPr/>
          <a:lstStyle/>
          <a:p>
            <a:r>
              <a:rPr lang="tr-TR">
                <a:ea typeface="+mj-lt"/>
                <a:cs typeface="+mj-lt"/>
              </a:rPr>
              <a:t>a) What is the URL of the site?</a:t>
            </a:r>
          </a:p>
        </p:txBody>
      </p:sp>
      <p:sp>
        <p:nvSpPr>
          <p:cNvPr id="3" name="İçerik Yer Tutucusu 2">
            <a:extLst>
              <a:ext uri="{FF2B5EF4-FFF2-40B4-BE49-F238E27FC236}">
                <a16:creationId xmlns:a16="http://schemas.microsoft.com/office/drawing/2014/main" id="{9892DB37-DF17-A53A-59B1-ADBAFA8D15B3}"/>
              </a:ext>
            </a:extLst>
          </p:cNvPr>
          <p:cNvSpPr>
            <a:spLocks noGrp="1"/>
          </p:cNvSpPr>
          <p:nvPr>
            <p:ph idx="1"/>
          </p:nvPr>
        </p:nvSpPr>
        <p:spPr/>
        <p:txBody>
          <a:bodyPr vert="horz" lIns="91440" tIns="45720" rIns="91440" bIns="45720" rtlCol="0" anchor="t">
            <a:normAutofit lnSpcReduction="10000"/>
          </a:bodyPr>
          <a:lstStyle/>
          <a:p>
            <a:pPr marL="0" indent="0">
              <a:buNone/>
            </a:pPr>
            <a:r>
              <a:rPr lang="tr-TR">
                <a:ea typeface="+mn-lt"/>
                <a:cs typeface="+mn-lt"/>
              </a:rPr>
              <a:t>   The URL of the website analyzed for this assignment is </a:t>
            </a:r>
            <a:r>
              <a:rPr lang="tr-TR" dirty="0">
                <a:ea typeface="+mn-lt"/>
                <a:cs typeface="+mn-lt"/>
                <a:hlinkClick r:id="rId2"/>
              </a:rPr>
              <a:t>https://github.com</a:t>
            </a:r>
            <a:r>
              <a:rPr lang="tr-TR" dirty="0">
                <a:ea typeface="+mn-lt"/>
                <a:cs typeface="+mn-lt"/>
              </a:rPr>
              <a:t>.</a:t>
            </a:r>
            <a:endParaRPr lang="tr-TR">
              <a:ea typeface="+mn-lt"/>
              <a:cs typeface="+mn-lt"/>
            </a:endParaRPr>
          </a:p>
          <a:p>
            <a:endParaRPr lang="tr-TR" dirty="0"/>
          </a:p>
          <a:p>
            <a:pPr marL="0" indent="0">
              <a:buNone/>
            </a:pPr>
            <a:r>
              <a:rPr lang="tr-TR" sz="4400">
                <a:ea typeface="+mn-lt"/>
                <a:cs typeface="+mn-lt"/>
              </a:rPr>
              <a:t>b) What is the purpose of the site?</a:t>
            </a:r>
          </a:p>
          <a:p>
            <a:pPr marL="0" indent="0">
              <a:buNone/>
            </a:pPr>
            <a:endParaRPr lang="tr-TR" dirty="0">
              <a:ea typeface="+mn-lt"/>
              <a:cs typeface="+mn-lt"/>
            </a:endParaRPr>
          </a:p>
          <a:p>
            <a:pPr marL="0" indent="0">
              <a:buNone/>
            </a:pPr>
            <a:r>
              <a:rPr lang="tr-TR">
                <a:ea typeface="+mn-lt"/>
                <a:cs typeface="+mn-lt"/>
              </a:rPr>
              <a:t>  GitHub is a cloud-based hosting service for software development projects and version control using Git. Its primary purpose is to allow developers, engineers, and students to store their code, track changes over time, collaborate on open-source or private projects, and seamlessly deploy web applications.</a:t>
            </a:r>
            <a:endParaRPr lang="tr-TR"/>
          </a:p>
        </p:txBody>
      </p:sp>
    </p:spTree>
    <p:extLst>
      <p:ext uri="{BB962C8B-B14F-4D97-AF65-F5344CB8AC3E}">
        <p14:creationId xmlns:p14="http://schemas.microsoft.com/office/powerpoint/2010/main" val="2175715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329E3A-16C8-F108-B36B-7E7205DD1484}"/>
              </a:ext>
            </a:extLst>
          </p:cNvPr>
          <p:cNvSpPr>
            <a:spLocks noGrp="1"/>
          </p:cNvSpPr>
          <p:nvPr>
            <p:ph type="title"/>
          </p:nvPr>
        </p:nvSpPr>
        <p:spPr/>
        <p:txBody>
          <a:bodyPr/>
          <a:lstStyle/>
          <a:p>
            <a:r>
              <a:rPr lang="tr-TR">
                <a:ea typeface="+mj-lt"/>
                <a:cs typeface="+mj-lt"/>
              </a:rPr>
              <a:t>c) Who is the intended audience?</a:t>
            </a:r>
            <a:endParaRPr lang="tr-TR"/>
          </a:p>
        </p:txBody>
      </p:sp>
      <p:sp>
        <p:nvSpPr>
          <p:cNvPr id="3" name="İçerik Yer Tutucusu 2">
            <a:extLst>
              <a:ext uri="{FF2B5EF4-FFF2-40B4-BE49-F238E27FC236}">
                <a16:creationId xmlns:a16="http://schemas.microsoft.com/office/drawing/2014/main" id="{526BE3A3-792D-77F3-7B6C-DF34F236F902}"/>
              </a:ext>
            </a:extLst>
          </p:cNvPr>
          <p:cNvSpPr>
            <a:spLocks noGrp="1"/>
          </p:cNvSpPr>
          <p:nvPr>
            <p:ph idx="1"/>
          </p:nvPr>
        </p:nvSpPr>
        <p:spPr>
          <a:xfrm>
            <a:off x="838200" y="1513480"/>
            <a:ext cx="10515600" cy="4351338"/>
          </a:xfrm>
        </p:spPr>
        <p:txBody>
          <a:bodyPr vert="horz" lIns="91440" tIns="45720" rIns="91440" bIns="45720" rtlCol="0" anchor="t">
            <a:normAutofit fontScale="77500" lnSpcReduction="20000"/>
          </a:bodyPr>
          <a:lstStyle/>
          <a:p>
            <a:pPr marL="0" indent="0">
              <a:buNone/>
            </a:pPr>
            <a:r>
              <a:rPr lang="tr-TR">
                <a:ea typeface="+mn-lt"/>
                <a:cs typeface="+mn-lt"/>
              </a:rPr>
              <a:t>  The intended audience is highly diverse but centered around the technology sector. It includes software developers, web designers, data scientists, project managers, tech companies, and students pursuing degrees in computer science or information technology.</a:t>
            </a:r>
          </a:p>
          <a:p>
            <a:pPr marL="0" indent="0">
              <a:buNone/>
            </a:pPr>
            <a:endParaRPr lang="tr-TR" dirty="0">
              <a:ea typeface="+mn-lt"/>
              <a:cs typeface="+mn-lt"/>
            </a:endParaRPr>
          </a:p>
          <a:p>
            <a:pPr marL="0" indent="0">
              <a:buNone/>
            </a:pPr>
            <a:r>
              <a:rPr lang="tr-TR" sz="4400">
                <a:ea typeface="+mn-lt"/>
                <a:cs typeface="+mn-lt"/>
              </a:rPr>
              <a:t>d) Do you think that the site reaches its intended audience? Why or why not?</a:t>
            </a:r>
          </a:p>
          <a:p>
            <a:pPr marL="0" indent="0">
              <a:buNone/>
            </a:pPr>
            <a:endParaRPr lang="tr-TR" sz="4400" dirty="0">
              <a:ea typeface="+mn-lt"/>
              <a:cs typeface="+mn-lt"/>
            </a:endParaRPr>
          </a:p>
          <a:p>
            <a:pPr marL="0" indent="0">
              <a:buNone/>
            </a:pPr>
            <a:r>
              <a:rPr lang="tr-TR">
                <a:ea typeface="+mn-lt"/>
                <a:cs typeface="+mn-lt"/>
              </a:rPr>
              <a:t>Yes, GitHub successfully reaches its intended audience. It is currently the largest host of source code in the world, used by tens of millions of developers globally. The platform has become an industry standard; having a GitHub profile is practically mandatory for modern developers looking for employment, which proves its immense reach and authority.</a:t>
            </a:r>
            <a:endParaRPr lang="tr-TR"/>
          </a:p>
        </p:txBody>
      </p:sp>
    </p:spTree>
    <p:extLst>
      <p:ext uri="{BB962C8B-B14F-4D97-AF65-F5344CB8AC3E}">
        <p14:creationId xmlns:p14="http://schemas.microsoft.com/office/powerpoint/2010/main" val="745510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C6A352-283E-38CB-46BE-ACB0543EB082}"/>
              </a:ext>
            </a:extLst>
          </p:cNvPr>
          <p:cNvSpPr>
            <a:spLocks noGrp="1"/>
          </p:cNvSpPr>
          <p:nvPr>
            <p:ph type="title"/>
          </p:nvPr>
        </p:nvSpPr>
        <p:spPr/>
        <p:txBody>
          <a:bodyPr/>
          <a:lstStyle/>
          <a:p>
            <a:r>
              <a:rPr lang="tr-TR">
                <a:ea typeface="+mj-lt"/>
                <a:cs typeface="+mj-lt"/>
              </a:rPr>
              <a:t>e) Is the site useful to you? Why or why not?</a:t>
            </a:r>
            <a:endParaRPr lang="tr-TR"/>
          </a:p>
        </p:txBody>
      </p:sp>
      <p:sp>
        <p:nvSpPr>
          <p:cNvPr id="3" name="İçerik Yer Tutucusu 2">
            <a:extLst>
              <a:ext uri="{FF2B5EF4-FFF2-40B4-BE49-F238E27FC236}">
                <a16:creationId xmlns:a16="http://schemas.microsoft.com/office/drawing/2014/main" id="{F722C36B-616D-3B77-9742-0AD79DE106D3}"/>
              </a:ext>
            </a:extLst>
          </p:cNvPr>
          <p:cNvSpPr>
            <a:spLocks noGrp="1"/>
          </p:cNvSpPr>
          <p:nvPr>
            <p:ph idx="1"/>
          </p:nvPr>
        </p:nvSpPr>
        <p:spPr/>
        <p:txBody>
          <a:bodyPr vert="horz" lIns="91440" tIns="45720" rIns="91440" bIns="45720" rtlCol="0" anchor="t">
            <a:normAutofit/>
          </a:bodyPr>
          <a:lstStyle/>
          <a:p>
            <a:r>
              <a:rPr lang="tr-TR">
                <a:ea typeface="+mn-lt"/>
                <a:cs typeface="+mn-lt"/>
              </a:rPr>
              <a:t>The site is extremely useful to me as a student. It serves as a digital portfolio where I can host my school assignments—including this very website project. It allows me to practice using version control, explore open-source code written by professionals, and back up my projects safely in the cloud.</a:t>
            </a:r>
            <a:endParaRPr lang="tr-TR"/>
          </a:p>
        </p:txBody>
      </p:sp>
    </p:spTree>
    <p:extLst>
      <p:ext uri="{BB962C8B-B14F-4D97-AF65-F5344CB8AC3E}">
        <p14:creationId xmlns:p14="http://schemas.microsoft.com/office/powerpoint/2010/main" val="22625356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020CF9-90D5-2D9A-35A5-C3B9CF128335}"/>
              </a:ext>
            </a:extLst>
          </p:cNvPr>
          <p:cNvSpPr>
            <a:spLocks noGrp="1"/>
          </p:cNvSpPr>
          <p:nvPr>
            <p:ph type="title"/>
          </p:nvPr>
        </p:nvSpPr>
        <p:spPr/>
        <p:txBody>
          <a:bodyPr/>
          <a:lstStyle/>
          <a:p>
            <a:r>
              <a:rPr lang="tr-TR">
                <a:ea typeface="+mj-lt"/>
                <a:cs typeface="+mj-lt"/>
              </a:rPr>
              <a:t>f) Does this site appeal to you? Why or why not?</a:t>
            </a:r>
            <a:endParaRPr lang="tr-TR"/>
          </a:p>
        </p:txBody>
      </p:sp>
      <p:sp>
        <p:nvSpPr>
          <p:cNvPr id="3" name="İçerik Yer Tutucusu 2">
            <a:extLst>
              <a:ext uri="{FF2B5EF4-FFF2-40B4-BE49-F238E27FC236}">
                <a16:creationId xmlns:a16="http://schemas.microsoft.com/office/drawing/2014/main" id="{09968AF5-EFB8-47E9-30D6-7261ED5E158A}"/>
              </a:ext>
            </a:extLst>
          </p:cNvPr>
          <p:cNvSpPr>
            <a:spLocks noGrp="1"/>
          </p:cNvSpPr>
          <p:nvPr>
            <p:ph idx="1"/>
          </p:nvPr>
        </p:nvSpPr>
        <p:spPr/>
        <p:txBody>
          <a:bodyPr vert="horz" lIns="91440" tIns="45720" rIns="91440" bIns="45720" rtlCol="0" anchor="t">
            <a:normAutofit/>
          </a:bodyPr>
          <a:lstStyle/>
          <a:p>
            <a:pPr marL="0" indent="0"/>
            <a:r>
              <a:rPr lang="tr-TR" b="1">
                <a:ea typeface="+mn-lt"/>
                <a:cs typeface="+mn-lt"/>
              </a:rPr>
              <a:t>Color &amp; Images:</a:t>
            </a:r>
            <a:r>
              <a:rPr lang="tr-TR">
                <a:ea typeface="+mn-lt"/>
                <a:cs typeface="+mn-lt"/>
              </a:rPr>
              <a:t> The dark-themed landing page looks highly professional and futuristic, utilizing subtle neon accents that resonate well with programmers.</a:t>
            </a:r>
            <a:endParaRPr lang="tr-TR"/>
          </a:p>
          <a:p>
            <a:r>
              <a:rPr lang="tr-TR" b="1">
                <a:ea typeface="+mn-lt"/>
                <a:cs typeface="+mn-lt"/>
              </a:rPr>
              <a:t>Organization &amp; Navigation:</a:t>
            </a:r>
            <a:r>
              <a:rPr lang="tr-TR">
                <a:ea typeface="+mn-lt"/>
                <a:cs typeface="+mn-lt"/>
              </a:rPr>
              <a:t> Despite hosting complex tools, the layout is remarkably clean. The repositories, pull requests, and profile sections are logically organized, making it easy to find files.</a:t>
            </a:r>
            <a:endParaRPr lang="tr-TR"/>
          </a:p>
          <a:p>
            <a:r>
              <a:rPr lang="tr-TR" b="1">
                <a:ea typeface="+mn-lt"/>
                <a:cs typeface="+mn-lt"/>
              </a:rPr>
              <a:t>Multimedia:</a:t>
            </a:r>
            <a:r>
              <a:rPr lang="tr-TR">
                <a:ea typeface="+mn-lt"/>
                <a:cs typeface="+mn-lt"/>
              </a:rPr>
              <a:t> It uses smooth, interactive animations and interactive command-line simulations that engage tech-savvy users immediately.</a:t>
            </a:r>
            <a:endParaRPr lang="tr-TR"/>
          </a:p>
          <a:p>
            <a:endParaRPr lang="tr-TR" dirty="0"/>
          </a:p>
        </p:txBody>
      </p:sp>
    </p:spTree>
    <p:extLst>
      <p:ext uri="{BB962C8B-B14F-4D97-AF65-F5344CB8AC3E}">
        <p14:creationId xmlns:p14="http://schemas.microsoft.com/office/powerpoint/2010/main" val="2748653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49E6353-6613-ABF6-3E61-F7182531FCCF}"/>
              </a:ext>
            </a:extLst>
          </p:cNvPr>
          <p:cNvSpPr>
            <a:spLocks noGrp="1"/>
          </p:cNvSpPr>
          <p:nvPr>
            <p:ph type="title"/>
          </p:nvPr>
        </p:nvSpPr>
        <p:spPr/>
        <p:txBody>
          <a:bodyPr/>
          <a:lstStyle/>
          <a:p>
            <a:r>
              <a:rPr lang="tr-TR"/>
              <a:t>g) Would you encourage others to visit this site? Why or why not?</a:t>
            </a:r>
          </a:p>
        </p:txBody>
      </p:sp>
      <p:sp>
        <p:nvSpPr>
          <p:cNvPr id="3" name="İçerik Yer Tutucusu 2">
            <a:extLst>
              <a:ext uri="{FF2B5EF4-FFF2-40B4-BE49-F238E27FC236}">
                <a16:creationId xmlns:a16="http://schemas.microsoft.com/office/drawing/2014/main" id="{5FFD13FD-F4B0-F35E-EFFA-D9DEE762FA81}"/>
              </a:ext>
            </a:extLst>
          </p:cNvPr>
          <p:cNvSpPr>
            <a:spLocks noGrp="1"/>
          </p:cNvSpPr>
          <p:nvPr>
            <p:ph idx="1"/>
          </p:nvPr>
        </p:nvSpPr>
        <p:spPr/>
        <p:txBody>
          <a:bodyPr vert="horz" lIns="91440" tIns="45720" rIns="91440" bIns="45720" rtlCol="0" anchor="t">
            <a:normAutofit/>
          </a:bodyPr>
          <a:lstStyle/>
          <a:p>
            <a:pPr marL="0" indent="0">
              <a:buNone/>
            </a:pPr>
            <a:r>
              <a:rPr lang="tr-TR">
                <a:ea typeface="+mn-lt"/>
                <a:cs typeface="+mn-lt"/>
              </a:rPr>
              <a:t>I would strongly encourage any student, hobbyist, or aspiring professional in the tech field to visit and use GitHub. It is not just a tool; it is a global community. Engaging with the platform early in one’s academic journey accelerates learning and provides exposure to real-world coding standards.</a:t>
            </a:r>
            <a:endParaRPr lang="tr-TR"/>
          </a:p>
        </p:txBody>
      </p:sp>
    </p:spTree>
    <p:extLst>
      <p:ext uri="{BB962C8B-B14F-4D97-AF65-F5344CB8AC3E}">
        <p14:creationId xmlns:p14="http://schemas.microsoft.com/office/powerpoint/2010/main" val="1172433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94EE9F7-0534-01FA-6390-815E6A4CC3A0}"/>
              </a:ext>
            </a:extLst>
          </p:cNvPr>
          <p:cNvSpPr>
            <a:spLocks noGrp="1"/>
          </p:cNvSpPr>
          <p:nvPr>
            <p:ph type="title"/>
          </p:nvPr>
        </p:nvSpPr>
        <p:spPr/>
        <p:txBody>
          <a:bodyPr/>
          <a:lstStyle/>
          <a:p>
            <a:r>
              <a:rPr lang="tr-TR">
                <a:ea typeface="+mj-lt"/>
                <a:cs typeface="+mj-lt"/>
              </a:rPr>
              <a:t>h) How could this site be improved?</a:t>
            </a:r>
            <a:endParaRPr lang="tr-TR"/>
          </a:p>
        </p:txBody>
      </p:sp>
      <p:sp>
        <p:nvSpPr>
          <p:cNvPr id="3" name="İçerik Yer Tutucusu 2">
            <a:extLst>
              <a:ext uri="{FF2B5EF4-FFF2-40B4-BE49-F238E27FC236}">
                <a16:creationId xmlns:a16="http://schemas.microsoft.com/office/drawing/2014/main" id="{39051C45-1458-B889-4014-C968D917BEF2}"/>
              </a:ext>
            </a:extLst>
          </p:cNvPr>
          <p:cNvSpPr>
            <a:spLocks noGrp="1"/>
          </p:cNvSpPr>
          <p:nvPr>
            <p:ph idx="1"/>
          </p:nvPr>
        </p:nvSpPr>
        <p:spPr/>
        <p:txBody>
          <a:bodyPr vert="horz" lIns="91440" tIns="45720" rIns="91440" bIns="45720" rtlCol="0" anchor="t">
            <a:normAutofit/>
          </a:bodyPr>
          <a:lstStyle/>
          <a:p>
            <a:pPr marL="0" indent="0">
              <a:buNone/>
            </a:pPr>
            <a:r>
              <a:rPr lang="tr-TR">
                <a:ea typeface="+mn-lt"/>
                <a:cs typeface="+mn-lt"/>
              </a:rPr>
              <a:t>While GitHub is incredibly powerful, its learning curve can be steep for absolute beginners who are unfamiliar with Git commands. The site could be improved by integrating more interactive, built-in visual tutorials directly into the user interface for first-time users, guiding them step-by-step through their first repository creation without needing to rely on external documentation.</a:t>
            </a:r>
          </a:p>
        </p:txBody>
      </p:sp>
    </p:spTree>
    <p:extLst>
      <p:ext uri="{BB962C8B-B14F-4D97-AF65-F5344CB8AC3E}">
        <p14:creationId xmlns:p14="http://schemas.microsoft.com/office/powerpoint/2010/main" val="13291569"/>
      </p:ext>
    </p:extLst>
  </p:cSld>
  <p:clrMapOvr>
    <a:masterClrMapping/>
  </p:clrMapOvr>
</p:sld>
</file>

<file path=ppt/theme/theme1.xml><?xml version="1.0" encoding="utf-8"?>
<a:theme xmlns:a="http://schemas.openxmlformats.org/drawingml/2006/main" name="Ofis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is">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7</Slides>
  <Notes>0</Notes>
  <HiddenSlides>0</HiddenSlides>
  <MMClips>0</MMClips>
  <ScaleCrop>false</ScaleCrop>
  <HeadingPairs>
    <vt:vector size="4" baseType="variant">
      <vt:variant>
        <vt:lpstr>Tema</vt:lpstr>
      </vt:variant>
      <vt:variant>
        <vt:i4>1</vt:i4>
      </vt:variant>
      <vt:variant>
        <vt:lpstr>Slayt Başlıkları</vt:lpstr>
      </vt:variant>
      <vt:variant>
        <vt:i4>7</vt:i4>
      </vt:variant>
    </vt:vector>
  </HeadingPairs>
  <TitlesOfParts>
    <vt:vector size="8" baseType="lpstr">
      <vt:lpstr>Ofis Teması</vt:lpstr>
      <vt:lpstr>COURSE ASSIGNMENT 1: WEBSITE ANALYSIS REPORT Student Name:Mustafa Kısan 20232538</vt:lpstr>
      <vt:lpstr>a) What is the URL of the site?</vt:lpstr>
      <vt:lpstr>c) Who is the intended audience?</vt:lpstr>
      <vt:lpstr>e) Is the site useful to you? Why or why not?</vt:lpstr>
      <vt:lpstr>f) Does this site appeal to you? Why or why not?</vt:lpstr>
      <vt:lpstr>g) Would you encourage others to visit this site? Why or why not?</vt:lpstr>
      <vt:lpstr>h) How could this site be improved?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36</cp:revision>
  <dcterms:created xsi:type="dcterms:W3CDTF">2026-06-03T18:50:27Z</dcterms:created>
  <dcterms:modified xsi:type="dcterms:W3CDTF">2026-06-03T19:09:55Z</dcterms:modified>
</cp:coreProperties>
</file>